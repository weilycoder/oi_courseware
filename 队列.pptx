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3"/>
    <p:sldId id="269" r:id="rId4"/>
    <p:sldId id="261" r:id="rId6"/>
    <p:sldId id="262" r:id="rId7"/>
    <p:sldId id="281" r:id="rId8"/>
    <p:sldId id="264" r:id="rId9"/>
    <p:sldId id="265" r:id="rId10"/>
    <p:sldId id="257" r:id="rId11"/>
    <p:sldId id="287" r:id="rId12"/>
    <p:sldId id="259" r:id="rId13"/>
    <p:sldId id="258" r:id="rId14"/>
    <p:sldId id="286" r:id="rId15"/>
    <p:sldId id="266" r:id="rId16"/>
    <p:sldId id="289" r:id="rId17"/>
    <p:sldId id="288" r:id="rId18"/>
    <p:sldId id="284" r:id="rId19"/>
    <p:sldId id="263" r:id="rId20"/>
    <p:sldId id="282" r:id="rId21"/>
    <p:sldId id="268" r:id="rId22"/>
    <p:sldId id="267" r:id="rId23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7DEA0F-0A36-45D8-9983-7406FADDF66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6FAC6E-741F-4409-86E3-32450BFBFCF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幻灯片图像占位符 1"/>
          <p:cNvSpPr>
            <a:spLocks noGrp="1" noRot="1" noChangeArrowheads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39938" name="文本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4" y="1778438"/>
            <a:ext cx="4873574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4" y="2665379"/>
            <a:ext cx="4873574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8" y="1778438"/>
            <a:ext cx="4897576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8" y="2665379"/>
            <a:ext cx="4897576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zh-CN"/>
              <a:t>线性结构之</a:t>
            </a:r>
            <a:r>
              <a:rPr lang="en-US" altLang="zh-CN"/>
              <a:t>——</a:t>
            </a:r>
            <a:r>
              <a:rPr lang="zh-CN" altLang="zh-CN"/>
              <a:t>队列</a:t>
            </a:r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US" altLang="zh-CN"/>
              <a:t>2019.2.12</a:t>
            </a:r>
            <a:endParaRPr lang="en-US" altLang="zh-CN"/>
          </a:p>
          <a:p>
            <a:pPr algn="r"/>
            <a:r>
              <a:rPr lang="zh-CN" altLang="en-US"/>
              <a:t>山东省实验中学 宁华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引例 </a:t>
            </a:r>
            <a:r>
              <a:rPr lang="zh-CN" altLang="en-US" dirty="0"/>
              <a:t>鸡蛋队列 nyoj 1117</a:t>
            </a:r>
            <a:br>
              <a:rPr lang="zh-CN" altLang="en-US" dirty="0" smtClean="0"/>
            </a:br>
            <a:r>
              <a:rPr lang="zh-CN" altLang="en-US" sz="2000" dirty="0" smtClean="0"/>
              <a:t>http://acm.nyist.edu.cn/JudgeOnline/problem.php?pid=1117</a:t>
            </a:r>
            <a:endParaRPr lang="zh-CN" altLang="en-US" sz="2000" dirty="0" smtClean="0"/>
          </a:p>
        </p:txBody>
      </p:sp>
      <p:sp>
        <p:nvSpPr>
          <p:cNvPr id="38914" name="内容占位符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smtClean="0"/>
              <a:t>描述</a:t>
            </a:r>
            <a:endParaRPr lang="zh-CN" altLang="en-US" sz="2400" smtClean="0"/>
          </a:p>
          <a:p>
            <a:r>
              <a:rPr lang="zh-CN" altLang="en-US" sz="2400" smtClean="0"/>
              <a:t>    将两根筷子平行的放在一起，就构成了一个队列。将带有编号的鸡蛋放到两根筷子之间叫做入队(push)，将筷子之间的鸡蛋拿出来叫做出队(pop)。但这两种方式有特殊的定义，对于入队，只能将鸡蛋从队列的尾部向里放入；对于出队，只能将鸡蛋从队列的头部向外将鸡蛋拿出来。</a:t>
            </a:r>
            <a:endParaRPr lang="zh-CN" altLang="en-US" sz="2400" smtClean="0"/>
          </a:p>
        </p:txBody>
      </p:sp>
      <p:pic>
        <p:nvPicPr>
          <p:cNvPr id="38916" name="图片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0000">
            <a:off x="3722688" y="4262120"/>
            <a:ext cx="42306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917" name="图片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0000">
            <a:off x="3722688" y="5542598"/>
            <a:ext cx="42306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915" name="图片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748" b="28177"/>
          <a:stretch>
            <a:fillRect/>
          </a:stretch>
        </p:blipFill>
        <p:spPr bwMode="auto">
          <a:xfrm>
            <a:off x="4581525" y="4776153"/>
            <a:ext cx="2513013" cy="881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输入</a:t>
            </a:r>
            <a:endParaRPr lang="zh-CN" altLang="en-US"/>
          </a:p>
          <a:p>
            <a:r>
              <a:rPr lang="zh-CN" altLang="en-US"/>
              <a:t>第一行输入一个数T，表示有T组数据</a:t>
            </a:r>
            <a:endParaRPr lang="zh-CN" altLang="en-US"/>
          </a:p>
          <a:p>
            <a:r>
              <a:rPr lang="zh-CN" altLang="en-US"/>
              <a:t>第二行输入一个数N，表示有N(N&lt;=10)种操作</a:t>
            </a:r>
            <a:endParaRPr lang="zh-CN" altLang="en-US"/>
          </a:p>
          <a:p>
            <a:r>
              <a:rPr lang="zh-CN" altLang="en-US"/>
              <a:t>接下来N行，每行一种操作，push表示将编号为x的鸡蛋放入队列中，pop表示拿走队列头部的一个鸡蛋。</a:t>
            </a:r>
            <a:endParaRPr lang="zh-CN" altLang="en-US"/>
          </a:p>
          <a:p>
            <a:r>
              <a:rPr lang="zh-CN" altLang="en-US"/>
              <a:t>数据输入保证合法,队列中没有鸡蛋时不会有出队操作！</a:t>
            </a:r>
            <a:endParaRPr lang="zh-CN" altLang="en-US"/>
          </a:p>
          <a:p>
            <a:r>
              <a:rPr lang="zh-CN" altLang="en-US"/>
              <a:t>输出</a:t>
            </a:r>
            <a:endParaRPr lang="zh-CN" altLang="en-US"/>
          </a:p>
          <a:p>
            <a:r>
              <a:rPr lang="zh-CN" altLang="en-US"/>
              <a:t>输出N种操作完之后，队列中鸡蛋的编号，如果没鸡蛋了，就输出"no eggs!"(不包括引号)。每组输出占一行。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zh-CN" altLang="en-US" sz="2000">
                <a:sym typeface="+mn-ea"/>
              </a:rPr>
              <a:t>样例输入</a:t>
            </a:r>
            <a:endParaRPr lang="zh-CN" altLang="en-US" sz="2000"/>
          </a:p>
          <a:p>
            <a:r>
              <a:rPr lang="zh-CN" altLang="en-US" sz="2000">
                <a:sym typeface="+mn-ea"/>
              </a:rPr>
              <a:t>2</a:t>
            </a:r>
            <a:endParaRPr lang="zh-CN" altLang="en-US" sz="2000"/>
          </a:p>
          <a:p>
            <a:r>
              <a:rPr lang="zh-CN" altLang="en-US" sz="2000">
                <a:sym typeface="+mn-ea"/>
              </a:rPr>
              <a:t>3</a:t>
            </a:r>
            <a:endParaRPr lang="zh-CN" altLang="en-US" sz="2000"/>
          </a:p>
          <a:p>
            <a:r>
              <a:rPr lang="zh-CN" altLang="en-US" sz="2000">
                <a:sym typeface="+mn-ea"/>
              </a:rPr>
              <a:t>push 1 </a:t>
            </a:r>
            <a:endParaRPr lang="zh-CN" altLang="en-US" sz="2000"/>
          </a:p>
          <a:p>
            <a:r>
              <a:rPr lang="zh-CN" altLang="en-US" sz="2000">
                <a:sym typeface="+mn-ea"/>
              </a:rPr>
              <a:t>push 2</a:t>
            </a:r>
            <a:endParaRPr lang="zh-CN" altLang="en-US" sz="2000"/>
          </a:p>
          <a:p>
            <a:r>
              <a:rPr lang="zh-CN" altLang="en-US" sz="2000">
                <a:sym typeface="+mn-ea"/>
              </a:rPr>
              <a:t>push 3</a:t>
            </a:r>
            <a:endParaRPr lang="zh-CN" altLang="en-US" sz="2000"/>
          </a:p>
          <a:p>
            <a:r>
              <a:rPr lang="zh-CN" altLang="en-US" sz="2000">
                <a:sym typeface="+mn-ea"/>
              </a:rPr>
              <a:t>2</a:t>
            </a:r>
            <a:endParaRPr lang="zh-CN" altLang="en-US" sz="2000"/>
          </a:p>
          <a:p>
            <a:r>
              <a:rPr lang="zh-CN" altLang="en-US" sz="2000">
                <a:sym typeface="+mn-ea"/>
              </a:rPr>
              <a:t>push 1</a:t>
            </a:r>
            <a:endParaRPr lang="zh-CN" altLang="en-US" sz="2000"/>
          </a:p>
          <a:p>
            <a:r>
              <a:rPr lang="zh-CN" altLang="en-US" sz="2000">
                <a:sym typeface="+mn-ea"/>
              </a:rPr>
              <a:t>pop</a:t>
            </a:r>
            <a:endParaRPr lang="zh-CN" altLang="en-US" sz="2000"/>
          </a:p>
          <a:p>
            <a:r>
              <a:rPr lang="zh-CN" altLang="en-US" sz="2000">
                <a:sym typeface="+mn-ea"/>
              </a:rPr>
              <a:t>样例输出</a:t>
            </a:r>
            <a:endParaRPr lang="zh-CN" altLang="en-US" sz="2000"/>
          </a:p>
          <a:p>
            <a:r>
              <a:rPr lang="zh-CN" altLang="en-US" sz="2000">
                <a:sym typeface="+mn-ea"/>
              </a:rPr>
              <a:t>1 2 3</a:t>
            </a:r>
            <a:endParaRPr lang="zh-CN" altLang="en-US" sz="2000"/>
          </a:p>
          <a:p>
            <a:r>
              <a:rPr lang="zh-CN" altLang="en-US" sz="2000">
                <a:sym typeface="+mn-ea"/>
              </a:rPr>
              <a:t>no eggs!</a:t>
            </a:r>
            <a:endParaRPr lang="zh-CN" altLang="en-US" sz="2000"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队列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什么是队列？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队列的相关操作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9655" y="1691005"/>
            <a:ext cx="3379470" cy="17881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>
                <a:sym typeface="+mn-ea"/>
              </a:rPr>
              <a:t>[C++基础]</a:t>
            </a:r>
            <a:r>
              <a:rPr lang="en-US" altLang="zh-CN">
                <a:sym typeface="+mn-ea"/>
              </a:rPr>
              <a:t>STL</a:t>
            </a:r>
            <a:r>
              <a:rPr lang="zh-CN" altLang="en-US">
                <a:sym typeface="+mn-ea"/>
              </a:rPr>
              <a:t>中的队列&lt;queue&gt;中的常用函数</a:t>
            </a:r>
            <a:endParaRPr lang="zh-CN" altLang="en-US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/>
              <a:t>STL(Standard Template Library,标准模板库)</a:t>
            </a:r>
            <a:endParaRPr lang="zh-CN" altLang="en-US"/>
          </a:p>
          <a:p>
            <a:r>
              <a:rPr lang="zh-CN" altLang="en-US"/>
              <a:t>在C++中只要#include&lt;queue&gt;即可使用队列类，其中常用的成员函数如下：</a:t>
            </a:r>
            <a:endParaRPr lang="zh-CN" altLang="en-US"/>
          </a:p>
          <a:p>
            <a:r>
              <a:rPr lang="zh-CN" altLang="en-US"/>
              <a:t>1. push</a:t>
            </a:r>
            <a:endParaRPr lang="zh-CN" altLang="en-US"/>
          </a:p>
          <a:p>
            <a:r>
              <a:rPr lang="zh-CN" altLang="en-US"/>
              <a:t>2. pop</a:t>
            </a:r>
            <a:endParaRPr lang="zh-CN" altLang="en-US"/>
          </a:p>
          <a:p>
            <a:r>
              <a:rPr lang="zh-CN" altLang="en-US"/>
              <a:t>3. size</a:t>
            </a:r>
            <a:endParaRPr lang="zh-CN" altLang="en-US"/>
          </a:p>
          <a:p>
            <a:r>
              <a:rPr lang="zh-CN" altLang="en-US"/>
              <a:t>4. empty</a:t>
            </a:r>
            <a:endParaRPr lang="zh-CN" altLang="en-US"/>
          </a:p>
          <a:p>
            <a:r>
              <a:rPr lang="zh-CN" altLang="en-US"/>
              <a:t>5. front</a:t>
            </a:r>
            <a:endParaRPr lang="zh-CN" altLang="en-US"/>
          </a:p>
          <a:p>
            <a:r>
              <a:rPr lang="zh-CN" altLang="en-US"/>
              <a:t>6. back</a:t>
            </a:r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手写队列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数组</a:t>
            </a:r>
            <a:endParaRPr lang="en-US" altLang="zh-CN"/>
          </a:p>
          <a:p>
            <a:r>
              <a:rPr lang="zh-CN" altLang="en-US"/>
              <a:t>链表队列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>
                <a:sym typeface="+mn-ea"/>
              </a:rPr>
              <a:t>循环队列</a:t>
            </a:r>
            <a:endParaRPr lang="en-US" altLang="zh-CN"/>
          </a:p>
          <a:p>
            <a:endParaRPr lang="en-US" altLang="zh-C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例 舞会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Arial" panose="020B0604020202020204" pitchFamily="34" charset="0"/>
                <a:sym typeface="+mn-ea"/>
              </a:rPr>
              <a:t>假设在周末舞会上，男士们和女士们进入舞厅时，各自排成一队。跳舞开始时，依次从男队和女队的队头上各出一人配成舞伴。规定每个舞曲只能有一对跳舞者，跳完后回到各自队尾。若两队初始人数不相同，则较长的那一队中未配对者等待下一轮舞曲。现要求写一个程序，模拟上述舞伴配对问题。</a:t>
            </a:r>
            <a:endParaRPr lang="zh-CN" altLang="en-US" dirty="0">
              <a:latin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  <a:sym typeface="+mn-ea"/>
              </a:rPr>
              <a:t>输入：</a:t>
            </a:r>
            <a:endParaRPr lang="zh-CN" altLang="en-US" dirty="0">
              <a:latin typeface="Arial" panose="020B0604020202020204" pitchFamily="34" charset="0"/>
              <a:sym typeface="+mn-ea"/>
            </a:endParaRPr>
          </a:p>
          <a:p>
            <a:r>
              <a:rPr lang="zh-CN" altLang="en-US" dirty="0">
                <a:latin typeface="Arial" panose="020B0604020202020204" pitchFamily="34" charset="0"/>
                <a:sym typeface="+mn-ea"/>
              </a:rPr>
              <a:t>第一行两队的人数</a:t>
            </a:r>
            <a:endParaRPr lang="zh-CN" altLang="en-US" dirty="0">
              <a:latin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  <a:sym typeface="+mn-ea"/>
              </a:rPr>
              <a:t>第二行舞曲的数目</a:t>
            </a:r>
            <a:endParaRPr lang="zh-CN" altLang="en-US" dirty="0">
              <a:latin typeface="Arial" panose="020B0604020202020204" pitchFamily="34" charset="0"/>
            </a:endParaRPr>
          </a:p>
          <a:p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分别使用手写队列和</a:t>
            </a:r>
            <a:r>
              <a:rPr lang="en-US" altLang="zh-CN"/>
              <a:t>STL</a:t>
            </a:r>
            <a:r>
              <a:rPr lang="zh-CN" altLang="en-US"/>
              <a:t>队列实现。</a:t>
            </a:r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例 机器翻译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/>
              <a:t>NOIP</a:t>
            </a:r>
            <a:endParaRPr lang="en-US" altLang="zh-C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例 </a:t>
            </a:r>
            <a:r>
              <a:rPr lang="en-US" altLang="zh-CN"/>
              <a:t>Blah</a:t>
            </a:r>
            <a:r>
              <a:rPr lang="zh-CN" altLang="en-US"/>
              <a:t>数集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Arial" panose="020B0604020202020204" pitchFamily="34" charset="0"/>
                <a:sym typeface="+mn-ea"/>
              </a:rPr>
              <a:t>编一个程序，按递增次序生成集合</a:t>
            </a:r>
            <a:r>
              <a:rPr lang="en-US" altLang="zh-CN" dirty="0">
                <a:latin typeface="Arial" panose="020B0604020202020204" pitchFamily="34" charset="0"/>
                <a:sym typeface="+mn-ea"/>
              </a:rPr>
              <a:t>M</a:t>
            </a:r>
            <a:r>
              <a:rPr lang="zh-CN" altLang="en-US" dirty="0">
                <a:latin typeface="Arial" panose="020B0604020202020204" pitchFamily="34" charset="0"/>
                <a:sym typeface="+mn-ea"/>
              </a:rPr>
              <a:t>的最小的</a:t>
            </a:r>
            <a:r>
              <a:rPr lang="en-US" altLang="zh-CN" dirty="0">
                <a:latin typeface="Arial" panose="020B0604020202020204" pitchFamily="34" charset="0"/>
                <a:sym typeface="+mn-ea"/>
              </a:rPr>
              <a:t>N</a:t>
            </a:r>
            <a:r>
              <a:rPr lang="zh-CN" altLang="en-US" dirty="0">
                <a:latin typeface="Arial" panose="020B0604020202020204" pitchFamily="34" charset="0"/>
                <a:sym typeface="+mn-ea"/>
              </a:rPr>
              <a:t>个数。</a:t>
            </a:r>
            <a:endParaRPr lang="zh-CN" altLang="en-US" dirty="0">
              <a:latin typeface="Arial" panose="020B0604020202020204" pitchFamily="34" charset="0"/>
              <a:sym typeface="+mn-ea"/>
            </a:endParaRPr>
          </a:p>
          <a:p>
            <a:r>
              <a:rPr lang="en-US" altLang="zh-CN" dirty="0">
                <a:latin typeface="Arial" panose="020B0604020202020204" pitchFamily="34" charset="0"/>
                <a:sym typeface="+mn-ea"/>
              </a:rPr>
              <a:t>M</a:t>
            </a:r>
            <a:r>
              <a:rPr lang="zh-CN" altLang="en-US" dirty="0">
                <a:latin typeface="Arial" panose="020B0604020202020204" pitchFamily="34" charset="0"/>
                <a:sym typeface="+mn-ea"/>
              </a:rPr>
              <a:t>的定义如下：</a:t>
            </a:r>
            <a:endParaRPr lang="zh-CN" altLang="en-US" dirty="0">
              <a:latin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  <a:sym typeface="+mn-ea"/>
              </a:rPr>
              <a:t>    </a:t>
            </a:r>
            <a:r>
              <a:rPr lang="en-US" altLang="zh-CN" dirty="0">
                <a:latin typeface="Arial" panose="020B0604020202020204" pitchFamily="34" charset="0"/>
                <a:sym typeface="+mn-ea"/>
              </a:rPr>
              <a:t>(1)</a:t>
            </a:r>
            <a:r>
              <a:rPr lang="zh-CN" altLang="en-US" dirty="0">
                <a:latin typeface="Arial" panose="020B0604020202020204" pitchFamily="34" charset="0"/>
                <a:sym typeface="+mn-ea"/>
              </a:rPr>
              <a:t>数</a:t>
            </a:r>
            <a:r>
              <a:rPr lang="en-US" altLang="zh-CN" dirty="0">
                <a:latin typeface="Arial" panose="020B0604020202020204" pitchFamily="34" charset="0"/>
                <a:sym typeface="+mn-ea"/>
              </a:rPr>
              <a:t>1</a:t>
            </a:r>
            <a:r>
              <a:rPr lang="zh-CN" altLang="en-US" dirty="0">
                <a:latin typeface="Arial" panose="020B0604020202020204" pitchFamily="34" charset="0"/>
                <a:sym typeface="+mn-ea"/>
              </a:rPr>
              <a:t>属于</a:t>
            </a:r>
            <a:r>
              <a:rPr lang="en-US" altLang="zh-CN" dirty="0">
                <a:latin typeface="Arial" panose="020B0604020202020204" pitchFamily="34" charset="0"/>
                <a:sym typeface="+mn-ea"/>
              </a:rPr>
              <a:t>M</a:t>
            </a:r>
            <a:r>
              <a:rPr lang="zh-CN" altLang="en-US" dirty="0">
                <a:latin typeface="Arial" panose="020B0604020202020204" pitchFamily="34" charset="0"/>
                <a:sym typeface="+mn-ea"/>
              </a:rPr>
              <a:t>；</a:t>
            </a:r>
            <a:endParaRPr lang="zh-CN" altLang="en-US" dirty="0">
              <a:latin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  <a:sym typeface="+mn-ea"/>
              </a:rPr>
              <a:t>    </a:t>
            </a:r>
            <a:r>
              <a:rPr lang="en-US" altLang="zh-CN" dirty="0">
                <a:latin typeface="Arial" panose="020B0604020202020204" pitchFamily="34" charset="0"/>
                <a:sym typeface="+mn-ea"/>
              </a:rPr>
              <a:t>(2)</a:t>
            </a:r>
            <a:r>
              <a:rPr lang="zh-CN" altLang="en-US" dirty="0">
                <a:latin typeface="Arial" panose="020B0604020202020204" pitchFamily="34" charset="0"/>
                <a:sym typeface="+mn-ea"/>
              </a:rPr>
              <a:t>如果</a:t>
            </a:r>
            <a:r>
              <a:rPr lang="en-US" altLang="zh-CN" dirty="0">
                <a:latin typeface="Arial" panose="020B0604020202020204" pitchFamily="34" charset="0"/>
                <a:sym typeface="+mn-ea"/>
              </a:rPr>
              <a:t>X</a:t>
            </a:r>
            <a:r>
              <a:rPr lang="zh-CN" altLang="en-US" dirty="0">
                <a:latin typeface="Arial" panose="020B0604020202020204" pitchFamily="34" charset="0"/>
                <a:sym typeface="+mn-ea"/>
              </a:rPr>
              <a:t>属于</a:t>
            </a:r>
            <a:r>
              <a:rPr lang="en-US" altLang="zh-CN" dirty="0">
                <a:latin typeface="Arial" panose="020B0604020202020204" pitchFamily="34" charset="0"/>
                <a:sym typeface="+mn-ea"/>
              </a:rPr>
              <a:t>M</a:t>
            </a:r>
            <a:r>
              <a:rPr lang="zh-CN" altLang="en-US" dirty="0">
                <a:latin typeface="Arial" panose="020B0604020202020204" pitchFamily="34" charset="0"/>
                <a:sym typeface="+mn-ea"/>
              </a:rPr>
              <a:t>，则</a:t>
            </a:r>
            <a:r>
              <a:rPr lang="en-US" altLang="zh-CN" dirty="0">
                <a:latin typeface="Arial" panose="020B0604020202020204" pitchFamily="34" charset="0"/>
                <a:sym typeface="+mn-ea"/>
              </a:rPr>
              <a:t>Y=2*X+1</a:t>
            </a:r>
            <a:r>
              <a:rPr lang="zh-CN" altLang="en-US" dirty="0">
                <a:latin typeface="Arial" panose="020B0604020202020204" pitchFamily="34" charset="0"/>
                <a:sym typeface="+mn-ea"/>
              </a:rPr>
              <a:t>和</a:t>
            </a:r>
            <a:r>
              <a:rPr lang="en-US" altLang="zh-CN" dirty="0">
                <a:latin typeface="Arial" panose="020B0604020202020204" pitchFamily="34" charset="0"/>
                <a:sym typeface="+mn-ea"/>
              </a:rPr>
              <a:t>Z=3*X+1</a:t>
            </a:r>
            <a:r>
              <a:rPr lang="zh-CN" altLang="en-US" dirty="0">
                <a:latin typeface="Arial" panose="020B0604020202020204" pitchFamily="34" charset="0"/>
                <a:sym typeface="+mn-ea"/>
              </a:rPr>
              <a:t>也属于</a:t>
            </a:r>
            <a:r>
              <a:rPr lang="en-US" altLang="zh-CN" dirty="0">
                <a:latin typeface="Arial" panose="020B0604020202020204" pitchFamily="34" charset="0"/>
                <a:sym typeface="+mn-ea"/>
              </a:rPr>
              <a:t>M</a:t>
            </a:r>
            <a:r>
              <a:rPr lang="zh-CN" altLang="en-US" dirty="0">
                <a:latin typeface="Arial" panose="020B0604020202020204" pitchFamily="34" charset="0"/>
                <a:sym typeface="+mn-ea"/>
              </a:rPr>
              <a:t>；</a:t>
            </a:r>
            <a:endParaRPr lang="zh-CN" altLang="en-US" dirty="0">
              <a:latin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  <a:sym typeface="+mn-ea"/>
              </a:rPr>
              <a:t>    </a:t>
            </a:r>
            <a:r>
              <a:rPr lang="en-US" altLang="zh-CN" dirty="0">
                <a:latin typeface="Arial" panose="020B0604020202020204" pitchFamily="34" charset="0"/>
                <a:sym typeface="+mn-ea"/>
              </a:rPr>
              <a:t>(3)</a:t>
            </a:r>
            <a:r>
              <a:rPr lang="zh-CN" altLang="en-US" dirty="0">
                <a:latin typeface="Arial" panose="020B0604020202020204" pitchFamily="34" charset="0"/>
                <a:sym typeface="+mn-ea"/>
              </a:rPr>
              <a:t>此外再没有别的数属于</a:t>
            </a:r>
            <a:r>
              <a:rPr lang="en-US" altLang="zh-CN" dirty="0">
                <a:latin typeface="Arial" panose="020B0604020202020204" pitchFamily="34" charset="0"/>
                <a:sym typeface="+mn-ea"/>
              </a:rPr>
              <a:t>M</a:t>
            </a:r>
            <a:r>
              <a:rPr lang="zh-CN" altLang="en-US" dirty="0">
                <a:latin typeface="Arial" panose="020B0604020202020204" pitchFamily="34" charset="0"/>
                <a:sym typeface="+mn-ea"/>
              </a:rPr>
              <a:t>。</a:t>
            </a:r>
            <a:endParaRPr lang="zh-CN" altLang="en-US" dirty="0">
              <a:latin typeface="Arial" panose="020B0604020202020204" pitchFamily="34" charset="0"/>
            </a:endParaRPr>
          </a:p>
          <a:p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思考：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能不能插队？</a:t>
            </a:r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优先队列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/>
              <a:t>priority_queue&lt;int&gt;q;</a:t>
            </a:r>
            <a:endParaRPr lang="en-US" altLang="zh-CN"/>
          </a:p>
          <a:p>
            <a:endParaRPr lang="en-US" altLang="zh-CN"/>
          </a:p>
          <a:p>
            <a:r>
              <a:rPr lang="en-US" altLang="zh-CN">
                <a:sym typeface="+mn-ea"/>
              </a:rPr>
              <a:t>priority_queue&lt;int,vector&lt;int&gt;,greater&lt;int&gt; &gt;q;</a:t>
            </a:r>
            <a:endParaRPr lang="en-US" altLang="zh-CN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priority_queue</a:t>
            </a:r>
            <a:endParaRPr lang="zh-CN" altLang="en-US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1800"/>
              <a:t>基本操作：</a:t>
            </a:r>
            <a:endParaRPr lang="zh-CN" altLang="en-US" sz="1800"/>
          </a:p>
          <a:p>
            <a:endParaRPr lang="zh-CN" altLang="en-US" sz="1800"/>
          </a:p>
          <a:p>
            <a:r>
              <a:rPr lang="zh-CN" altLang="en-US" sz="1800"/>
              <a:t>empty() 　　   如果队列为空，则返回真</a:t>
            </a:r>
            <a:endParaRPr lang="zh-CN" altLang="en-US" sz="1800"/>
          </a:p>
          <a:p>
            <a:endParaRPr lang="zh-CN" altLang="en-US" sz="1800"/>
          </a:p>
          <a:p>
            <a:r>
              <a:rPr lang="zh-CN" altLang="en-US" sz="1800"/>
              <a:t>pop()　　　　删除队顶元素，删除第一个元素</a:t>
            </a:r>
            <a:endParaRPr lang="zh-CN" altLang="en-US" sz="1800"/>
          </a:p>
          <a:p>
            <a:endParaRPr lang="zh-CN" altLang="en-US" sz="1800"/>
          </a:p>
          <a:p>
            <a:r>
              <a:rPr lang="zh-CN" altLang="en-US" sz="1800"/>
              <a:t>push() 　　     加入一个元素</a:t>
            </a:r>
            <a:endParaRPr lang="zh-CN" altLang="en-US" sz="1800"/>
          </a:p>
          <a:p>
            <a:endParaRPr lang="zh-CN" altLang="en-US" sz="1800"/>
          </a:p>
          <a:p>
            <a:r>
              <a:rPr lang="zh-CN" altLang="en-US" sz="1800"/>
              <a:t>size() 　　　  返回优先队列中拥有的元素个数</a:t>
            </a:r>
            <a:endParaRPr lang="zh-CN" altLang="en-US" sz="1800"/>
          </a:p>
          <a:p>
            <a:endParaRPr lang="zh-CN" altLang="en-US" sz="1800"/>
          </a:p>
          <a:p>
            <a:r>
              <a:rPr lang="zh-CN" altLang="en-US" sz="1800"/>
              <a:t>top() 　　　　返回优先队列队顶元素，返回优先队列中有最高优先级的元素</a:t>
            </a:r>
            <a:endParaRPr lang="zh-CN" altLang="en-US" sz="18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>
                <a:sym typeface="+mn-ea"/>
              </a:rPr>
              <a:t>例 合并果子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>
                <a:sym typeface="+mn-ea"/>
              </a:rPr>
              <a:t>NOIP</a:t>
            </a:r>
            <a:r>
              <a:rPr lang="zh-CN" altLang="en-US">
                <a:sym typeface="+mn-ea"/>
              </a:rPr>
              <a:t>提高组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再思考：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能不能在任意位置入队或出队？</a:t>
            </a:r>
            <a:endParaRPr lang="zh-CN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例 约瑟夫问题（猴子选大王）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Arial" panose="020B0604020202020204" pitchFamily="34" charset="0"/>
                <a:sym typeface="+mn-ea"/>
              </a:rPr>
              <a:t>设有ｎ个人依次围成一圈，从第１个人开始报数，数到第ｍ个人出列，然后从出列的下一个人开始报数，数到第ｍ个人又出列，</a:t>
            </a:r>
            <a:r>
              <a:rPr lang="en-US" altLang="zh-CN" dirty="0">
                <a:latin typeface="Arial" panose="020B0604020202020204" pitchFamily="34" charset="0"/>
                <a:sym typeface="+mn-ea"/>
              </a:rPr>
              <a:t>…</a:t>
            </a:r>
            <a:r>
              <a:rPr lang="zh-CN" altLang="en-US" dirty="0">
                <a:latin typeface="Arial" panose="020B0604020202020204" pitchFamily="34" charset="0"/>
                <a:sym typeface="+mn-ea"/>
              </a:rPr>
              <a:t>，如此反复到所有的人全部出列为止。设ｎ个人的编号分别为</a:t>
            </a:r>
            <a:r>
              <a:rPr lang="en-US" altLang="zh-CN" dirty="0">
                <a:latin typeface="Arial" panose="020B0604020202020204" pitchFamily="34" charset="0"/>
                <a:sym typeface="+mn-ea"/>
              </a:rPr>
              <a:t>1</a:t>
            </a:r>
            <a:r>
              <a:rPr lang="zh-CN" altLang="en-US" dirty="0">
                <a:latin typeface="Arial" panose="020B0604020202020204" pitchFamily="34" charset="0"/>
                <a:sym typeface="+mn-ea"/>
              </a:rPr>
              <a:t>，</a:t>
            </a:r>
            <a:r>
              <a:rPr lang="en-US" altLang="zh-CN" dirty="0">
                <a:latin typeface="Arial" panose="020B0604020202020204" pitchFamily="34" charset="0"/>
                <a:sym typeface="+mn-ea"/>
              </a:rPr>
              <a:t>2</a:t>
            </a:r>
            <a:r>
              <a:rPr lang="zh-CN" altLang="en-US" dirty="0">
                <a:latin typeface="Arial" panose="020B0604020202020204" pitchFamily="34" charset="0"/>
                <a:sym typeface="+mn-ea"/>
              </a:rPr>
              <a:t>，</a:t>
            </a:r>
            <a:r>
              <a:rPr lang="en-US" altLang="zh-CN" dirty="0">
                <a:latin typeface="Arial" panose="020B0604020202020204" pitchFamily="34" charset="0"/>
                <a:sym typeface="+mn-ea"/>
              </a:rPr>
              <a:t>…</a:t>
            </a:r>
            <a:r>
              <a:rPr lang="zh-CN" altLang="en-US" dirty="0">
                <a:latin typeface="Arial" panose="020B0604020202020204" pitchFamily="34" charset="0"/>
                <a:sym typeface="+mn-ea"/>
              </a:rPr>
              <a:t>，</a:t>
            </a:r>
            <a:r>
              <a:rPr lang="en-US" altLang="zh-CN" dirty="0">
                <a:latin typeface="Arial" panose="020B0604020202020204" pitchFamily="34" charset="0"/>
                <a:sym typeface="+mn-ea"/>
              </a:rPr>
              <a:t>n</a:t>
            </a:r>
            <a:r>
              <a:rPr lang="zh-CN" altLang="en-US" dirty="0">
                <a:latin typeface="Arial" panose="020B0604020202020204" pitchFamily="34" charset="0"/>
                <a:sym typeface="+mn-ea"/>
              </a:rPr>
              <a:t>，打印出列的顺序。</a:t>
            </a:r>
            <a:endParaRPr lang="zh-CN" altLang="en-US" dirty="0">
              <a:latin typeface="Arial" panose="020B0604020202020204" pitchFamily="34" charset="0"/>
              <a:sym typeface="+mn-ea"/>
            </a:endParaRPr>
          </a:p>
          <a:p>
            <a:endParaRPr lang="zh-CN" altLang="en-US" dirty="0">
              <a:latin typeface="Arial" panose="020B0604020202020204" pitchFamily="34" charset="0"/>
              <a:sym typeface="+mn-ea"/>
            </a:endParaRPr>
          </a:p>
          <a:p>
            <a:endParaRPr lang="zh-CN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例 </a:t>
            </a:r>
            <a:r>
              <a:rPr lang="zh-CN" altLang="en-US" dirty="0">
                <a:latin typeface="Arial" panose="020B0604020202020204" pitchFamily="34" charset="0"/>
                <a:sym typeface="+mn-ea"/>
              </a:rPr>
              <a:t>玩具谜题</a:t>
            </a:r>
            <a:endParaRPr lang="zh-CN" altLang="en-US" dirty="0">
              <a:latin typeface="Arial" panose="020B0604020202020204" pitchFamily="34" charset="0"/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algn="l"/>
            <a:r>
              <a:rPr lang="en-US" altLang="zh-CN">
                <a:sym typeface="+mn-ea"/>
              </a:rPr>
              <a:t>NOIP提高组</a:t>
            </a:r>
            <a:endParaRPr lang="en-US" altLang="zh-CN"/>
          </a:p>
          <a:p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例 瑞士轮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/>
              <a:t>NOIP</a:t>
            </a:r>
            <a:r>
              <a:rPr lang="zh-CN" altLang="en-US"/>
              <a:t>普及组</a:t>
            </a:r>
            <a:endParaRPr lang="zh-CN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课后自学：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队列与广度优先搜索</a:t>
            </a:r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SLIDE_MODEL_TYPE" val="cover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1343</Words>
  <Application>WPS 演示</Application>
  <PresentationFormat>宽屏</PresentationFormat>
  <Paragraphs>133</Paragraphs>
  <Slides>20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8" baseType="lpstr">
      <vt:lpstr>Arial</vt:lpstr>
      <vt:lpstr>宋体</vt:lpstr>
      <vt:lpstr>Wingdings</vt:lpstr>
      <vt:lpstr>Calibri Light</vt:lpstr>
      <vt:lpstr>Calibri</vt:lpstr>
      <vt:lpstr>微软雅黑</vt:lpstr>
      <vt:lpstr>Arial Unicode MS</vt:lpstr>
      <vt:lpstr>Office 主题</vt:lpstr>
      <vt:lpstr>线性结构之——队列</vt:lpstr>
      <vt:lpstr>引例 鸡蛋队列 nyoj 1117 http://acm.nyist.edu.cn/JudgeOnline/problem.php?pid=1117</vt:lpstr>
      <vt:lpstr>PowerPoint 演示文稿</vt:lpstr>
      <vt:lpstr>PowerPoint 演示文稿</vt:lpstr>
      <vt:lpstr>队列</vt:lpstr>
      <vt:lpstr>[C++基础]STL中的队列&lt;queue&gt;中的常用函数</vt:lpstr>
      <vt:lpstr>手写队列</vt:lpstr>
      <vt:lpstr>例 舞会</vt:lpstr>
      <vt:lpstr>PowerPoint 演示文稿</vt:lpstr>
      <vt:lpstr>例 机器翻译</vt:lpstr>
      <vt:lpstr>例 Blah数集</vt:lpstr>
      <vt:lpstr>思考：</vt:lpstr>
      <vt:lpstr>优先队列</vt:lpstr>
      <vt:lpstr>priority_queue</vt:lpstr>
      <vt:lpstr>例 合并果子</vt:lpstr>
      <vt:lpstr>再思考：</vt:lpstr>
      <vt:lpstr>例 约瑟夫问题（猴子选大王）</vt:lpstr>
      <vt:lpstr>例 玩具谜题</vt:lpstr>
      <vt:lpstr>例 瑞士轮</vt:lpstr>
      <vt:lpstr>课后自学：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s1</cp:lastModifiedBy>
  <cp:revision>10</cp:revision>
  <dcterms:created xsi:type="dcterms:W3CDTF">2018-12-08T15:46:00Z</dcterms:created>
  <dcterms:modified xsi:type="dcterms:W3CDTF">2019-02-12T02:15:58Z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2052-11.1.0.8214</vt:lpwstr>
  </property>
</Properties>
</file>