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5" r:id="rId5"/>
    <p:sldId id="267" r:id="rId6"/>
    <p:sldId id="266" r:id="rId7"/>
    <p:sldId id="268" r:id="rId8"/>
    <p:sldId id="269" r:id="rId9"/>
    <p:sldId id="258" r:id="rId10"/>
    <p:sldId id="270" r:id="rId11"/>
    <p:sldId id="271" r:id="rId12"/>
    <p:sldId id="272" r:id="rId13"/>
    <p:sldId id="274" r:id="rId14"/>
    <p:sldId id="273" r:id="rId15"/>
    <p:sldId id="276" r:id="rId16"/>
    <p:sldId id="275" r:id="rId17"/>
    <p:sldId id="277" r:id="rId18"/>
    <p:sldId id="280" r:id="rId19"/>
    <p:sldId id="278" r:id="rId20"/>
    <p:sldId id="279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球放盒问题的</a:t>
            </a:r>
            <a:r>
              <a:rPr lang="en-US" altLang="zh-CN"/>
              <a:t> 8 </a:t>
            </a:r>
            <a:r>
              <a:rPr lang="zh-CN" altLang="en-US"/>
              <a:t>种情形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zh-CN" altLang="en-US"/>
              <a:t>山东省实验中学</a:t>
            </a:r>
            <a:endParaRPr lang="zh-CN" altLang="en-US"/>
          </a:p>
          <a:p>
            <a:pPr algn="r"/>
            <a:r>
              <a:rPr lang="zh-CN" altLang="en-US"/>
              <a:t>宁华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问题描述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N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相同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不同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的球放到 </a:t>
            </a:r>
            <a:r>
              <a:rPr lang="en-US" altLang="zh-CN">
                <a:sym typeface="+mn-ea"/>
              </a:rPr>
              <a:t>M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相同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不同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的盒子里，允许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不允许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有空盒子，有多少种放法？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、球不同、盒不同、可空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、球不同、盒不同、可空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</a:t>
            </a:r>
            <a:r>
              <a:rPr lang="en-US" altLang="zh-CN" baseline="30000">
                <a:solidFill>
                  <a:schemeClr val="tx1"/>
                </a:solidFill>
                <a:uFillTx/>
              </a:rPr>
              <a:t>M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、球同、盒同、可空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、球同、盒同、可空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 sz="2800"/>
              <a:t>N </a:t>
            </a:r>
            <a:r>
              <a:rPr lang="zh-CN" altLang="en-US" sz="2800"/>
              <a:t>个球，</a:t>
            </a:r>
            <a:r>
              <a:rPr lang="en-US" altLang="zh-CN" sz="2800"/>
              <a:t>M </a:t>
            </a:r>
            <a:r>
              <a:rPr lang="zh-CN" altLang="en-US" sz="2800"/>
              <a:t>个盒子</a:t>
            </a:r>
            <a:endParaRPr lang="zh-CN" altLang="en-US" sz="2800"/>
          </a:p>
          <a:p>
            <a:r>
              <a:rPr lang="zh-CN" altLang="en-US" sz="2800"/>
              <a:t>设 f(</a:t>
            </a:r>
            <a:r>
              <a:rPr lang="en-US" altLang="zh-CN" sz="2800"/>
              <a:t>n</a:t>
            </a:r>
            <a:r>
              <a:rPr lang="zh-CN" altLang="en-US" sz="2800"/>
              <a:t>,</a:t>
            </a:r>
            <a:r>
              <a:rPr lang="en-US" altLang="zh-CN" sz="2800"/>
              <a:t>m</a:t>
            </a:r>
            <a:r>
              <a:rPr lang="zh-CN" altLang="en-US" sz="2800"/>
              <a:t>) 表示 </a:t>
            </a:r>
            <a:r>
              <a:rPr lang="en-US" altLang="zh-CN" sz="2800"/>
              <a:t>n</a:t>
            </a:r>
            <a:r>
              <a:rPr lang="zh-CN" altLang="en-US" sz="2800"/>
              <a:t> 个球放到 </a:t>
            </a:r>
            <a:r>
              <a:rPr lang="en-US" altLang="zh-CN" sz="2800"/>
              <a:t>m</a:t>
            </a:r>
            <a:r>
              <a:rPr lang="zh-CN" altLang="en-US" sz="2800"/>
              <a:t> 个盒子里的方案数。</a:t>
            </a:r>
            <a:endParaRPr lang="zh-CN" altLang="en-US" sz="2800"/>
          </a:p>
          <a:p>
            <a:r>
              <a:rPr lang="zh-CN" altLang="en-US" sz="2800"/>
              <a:t>分情况讨论：</a:t>
            </a:r>
            <a:endParaRPr lang="zh-CN" altLang="en-US" sz="2800"/>
          </a:p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N &lt; M</a:t>
            </a:r>
            <a:endParaRPr lang="en-US" altLang="zh-CN" sz="2800"/>
          </a:p>
          <a:p>
            <a:r>
              <a:rPr lang="en-US" altLang="zh-CN" sz="2800"/>
              <a:t>f(n,m)=f(n,n)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en-US" altLang="zh-CN" sz="2800"/>
              <a:t>N &gt;= M</a:t>
            </a:r>
            <a:endParaRPr lang="en-US" altLang="zh-CN" sz="2800"/>
          </a:p>
          <a:p>
            <a:r>
              <a:rPr lang="en-US" altLang="zh-CN" sz="2800">
                <a:latin typeface="Calibri" panose="020F0502020204030204" charset="0"/>
              </a:rPr>
              <a:t>①</a:t>
            </a:r>
            <a:r>
              <a:rPr lang="zh-CN" altLang="en-US" sz="2800">
                <a:latin typeface="Calibri" panose="020F0502020204030204" charset="0"/>
              </a:rPr>
              <a:t>有空盒子：</a:t>
            </a:r>
            <a:r>
              <a:rPr lang="en-US" altLang="zh-CN" sz="2800"/>
              <a:t>f(n,m)=f(n,m-1)</a:t>
            </a:r>
            <a:endParaRPr lang="en-US" altLang="zh-CN" sz="2800"/>
          </a:p>
          <a:p>
            <a:r>
              <a:rPr lang="en-US" altLang="zh-CN" sz="2800">
                <a:latin typeface="Calibri" panose="020F0502020204030204" charset="0"/>
                <a:sym typeface="+mn-ea"/>
              </a:rPr>
              <a:t>②</a:t>
            </a:r>
            <a:r>
              <a:rPr lang="zh-CN" altLang="en-US" sz="2800">
                <a:latin typeface="Calibri" panose="020F0502020204030204" charset="0"/>
                <a:sym typeface="+mn-ea"/>
              </a:rPr>
              <a:t>没有空盒子：</a:t>
            </a:r>
            <a:r>
              <a:rPr lang="en-US" altLang="zh-CN" sz="2800"/>
              <a:t>f(n,m)=f(n-m,m)</a:t>
            </a:r>
            <a:endParaRPr lang="en-US" altLang="zh-CN" sz="2800"/>
          </a:p>
          <a:p>
            <a:r>
              <a:rPr lang="en-US" altLang="zh-CN" sz="2800"/>
              <a:t>f(n,m)=f(n,m-1)+f(n-m,m)</a:t>
            </a:r>
            <a:endParaRPr lang="en-US" altLang="zh-C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其他的解释：</a:t>
            </a:r>
            <a:endParaRPr lang="zh-CN" altLang="en-US" sz="2400"/>
          </a:p>
          <a:p>
            <a:r>
              <a:rPr lang="zh-CN" altLang="en-US" sz="2400"/>
              <a:t>既然盒相同，我们不妨认为一个分球方案是按照球数从小到大排列的。</a:t>
            </a:r>
            <a:endParaRPr lang="zh-CN" altLang="en-US" sz="2400"/>
          </a:p>
          <a:p>
            <a:r>
              <a:rPr lang="zh-CN" altLang="en-US" sz="2400"/>
              <a:t>等效成把一个数 </a:t>
            </a:r>
            <a:r>
              <a:rPr lang="en-US" altLang="zh-CN" sz="2400"/>
              <a:t>n</a:t>
            </a:r>
            <a:r>
              <a:rPr lang="zh-CN" altLang="en-US" sz="2400"/>
              <a:t> 拆成 </a:t>
            </a:r>
            <a:r>
              <a:rPr lang="en-US" altLang="zh-CN" sz="2400"/>
              <a:t>m</a:t>
            </a:r>
            <a:r>
              <a:rPr lang="zh-CN" altLang="en-US" sz="2400"/>
              <a:t> 个数的和，并且这 </a:t>
            </a:r>
            <a:r>
              <a:rPr lang="en-US" altLang="zh-CN" sz="2400"/>
              <a:t>m</a:t>
            </a:r>
            <a:r>
              <a:rPr lang="zh-CN" altLang="en-US" sz="2400"/>
              <a:t> 个数单调不降。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设 f(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,</a:t>
            </a:r>
            <a:r>
              <a:rPr lang="en-US" altLang="zh-CN" sz="2400">
                <a:sym typeface="+mn-ea"/>
              </a:rPr>
              <a:t>m</a:t>
            </a:r>
            <a:r>
              <a:rPr lang="zh-CN" altLang="en-US" sz="2400">
                <a:sym typeface="+mn-ea"/>
              </a:rPr>
              <a:t>) 表示 </a:t>
            </a:r>
            <a:r>
              <a:rPr lang="en-US" altLang="zh-CN" sz="2400">
                <a:sym typeface="+mn-ea"/>
              </a:rPr>
              <a:t>n</a:t>
            </a:r>
            <a:r>
              <a:rPr lang="zh-CN" altLang="en-US" sz="2400">
                <a:sym typeface="+mn-ea"/>
              </a:rPr>
              <a:t> 拆成 </a:t>
            </a:r>
            <a:r>
              <a:rPr lang="en-US" altLang="zh-CN" sz="2400">
                <a:sym typeface="+mn-ea"/>
              </a:rPr>
              <a:t>m</a:t>
            </a:r>
            <a:r>
              <a:rPr lang="zh-CN" altLang="en-US" sz="2400">
                <a:sym typeface="+mn-ea"/>
              </a:rPr>
              <a:t> 份的方案数。</a:t>
            </a:r>
            <a:endParaRPr lang="zh-CN" altLang="en-US" sz="2400"/>
          </a:p>
          <a:p>
            <a:r>
              <a:rPr lang="zh-CN" altLang="en-US" sz="2400"/>
              <a:t>如果这么拆：x1 + x2 + x3 + . . . + x</a:t>
            </a:r>
            <a:r>
              <a:rPr lang="en-US" altLang="zh-CN" sz="2400"/>
              <a:t>m</a:t>
            </a:r>
            <a:r>
              <a:rPr lang="zh-CN" altLang="en-US" sz="2400"/>
              <a:t> = </a:t>
            </a:r>
            <a:r>
              <a:rPr lang="en-US" altLang="zh-CN" sz="2400"/>
              <a:t>n</a:t>
            </a:r>
            <a:r>
              <a:rPr lang="zh-CN" altLang="en-US" sz="2400"/>
              <a:t> ( x i ≥ 0 ) </a:t>
            </a:r>
            <a:endParaRPr lang="zh-CN" altLang="en-US" sz="2400"/>
          </a:p>
          <a:p>
            <a:r>
              <a:rPr lang="zh-CN" altLang="en-US" sz="2400"/>
              <a:t>当 x1 = 0 时， x2 . . . x</a:t>
            </a:r>
            <a:r>
              <a:rPr lang="en-US" altLang="zh-CN" sz="2400"/>
              <a:t>m</a:t>
            </a:r>
            <a:r>
              <a:rPr lang="zh-CN" altLang="en-US" sz="2400"/>
              <a:t> 的拆法可以表示成</a:t>
            </a:r>
            <a:r>
              <a:rPr lang="en-US" altLang="zh-CN" sz="2400"/>
              <a:t> </a:t>
            </a:r>
            <a:r>
              <a:rPr lang="zh-CN" altLang="en-US" sz="2400"/>
              <a:t>f(</a:t>
            </a:r>
            <a:r>
              <a:rPr lang="en-US" altLang="zh-CN" sz="2400"/>
              <a:t>n</a:t>
            </a:r>
            <a:r>
              <a:rPr lang="zh-CN" altLang="en-US" sz="2400"/>
              <a:t>,</a:t>
            </a:r>
            <a:r>
              <a:rPr lang="en-US" altLang="zh-CN" sz="2400"/>
              <a:t>m</a:t>
            </a:r>
            <a:r>
              <a:rPr lang="zh-CN" altLang="en-US" sz="2400"/>
              <a:t>−1)。</a:t>
            </a:r>
            <a:endParaRPr lang="zh-CN" altLang="en-US" sz="2400"/>
          </a:p>
          <a:p>
            <a:r>
              <a:rPr lang="zh-CN" altLang="en-US" sz="2400"/>
              <a:t>当 x1 ≥ 1 时，上式可以变成 ( x1 − 1 ) + ( x2 − 1 ) + . . . + ( xm − 1 ) = </a:t>
            </a:r>
            <a:r>
              <a:rPr lang="en-US" altLang="zh-CN" sz="2400"/>
              <a:t>n</a:t>
            </a:r>
            <a:r>
              <a:rPr lang="zh-CN" altLang="en-US" sz="2400"/>
              <a:t> − </a:t>
            </a:r>
            <a:r>
              <a:rPr lang="en-US" altLang="zh-CN" sz="2400"/>
              <a:t>m</a:t>
            </a:r>
            <a:r>
              <a:rPr lang="zh-CN" altLang="en-US" sz="2400"/>
              <a:t>后面的拆法表示成 f(</a:t>
            </a:r>
            <a:r>
              <a:rPr lang="en-US" altLang="zh-CN" sz="2400"/>
              <a:t>n</a:t>
            </a:r>
            <a:r>
              <a:rPr lang="zh-CN" altLang="en-US" sz="2400"/>
              <a:t>−</a:t>
            </a:r>
            <a:r>
              <a:rPr lang="en-US" altLang="zh-CN" sz="2400"/>
              <a:t>m</a:t>
            </a:r>
            <a:r>
              <a:rPr lang="zh-CN" altLang="en-US" sz="2400"/>
              <a:t>,</a:t>
            </a:r>
            <a:r>
              <a:rPr lang="en-US" altLang="zh-CN" sz="2400"/>
              <a:t>m</a:t>
            </a:r>
            <a:r>
              <a:rPr lang="zh-CN" altLang="en-US" sz="2400"/>
              <a:t>)。</a:t>
            </a:r>
            <a:endParaRPr lang="zh-CN" altLang="en-US" sz="2400"/>
          </a:p>
          <a:p>
            <a:r>
              <a:rPr lang="zh-CN" altLang="en-US" sz="2400"/>
              <a:t>所以 </a:t>
            </a:r>
            <a:r>
              <a:rPr lang="en-US" altLang="zh-CN" sz="2400">
                <a:sym typeface="+mn-ea"/>
              </a:rPr>
              <a:t>f(n,m)=f(n,m-1)+f(n-m,m)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、球同，盒同，不空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、球同，盒同，不空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 &lt; M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无解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N &gt;= M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f(n,m)=g(n-m,m) // </a:t>
            </a:r>
            <a:r>
              <a:rPr lang="zh-CN" altLang="en-US"/>
              <a:t>转换为</a:t>
            </a:r>
            <a:r>
              <a:rPr lang="en-US" altLang="zh-CN"/>
              <a:t> g</a:t>
            </a:r>
            <a:r>
              <a:rPr lang="zh-CN" altLang="en-US"/>
              <a:t>：球同，盒同，可空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、球同，盒不同，不空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、球同，盒不同，不空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N &lt; M </a:t>
            </a:r>
            <a:r>
              <a:rPr lang="zh-CN" altLang="en-US"/>
              <a:t>无解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N &gt;= M</a:t>
            </a:r>
            <a:endParaRPr lang="zh-CN" altLang="en-US"/>
          </a:p>
          <a:p>
            <a:r>
              <a:rPr lang="zh-CN" altLang="en-US"/>
              <a:t>插板法</a:t>
            </a:r>
            <a:endParaRPr lang="zh-CN" altLang="en-US"/>
          </a:p>
          <a:p>
            <a:r>
              <a:rPr lang="en-US" altLang="zh-CN"/>
              <a:t>c(n-1,m-1)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、球同，盒不同，可空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、球同，盒不同，可空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/>
              <a:t>x1+x2+……+xm=n</a:t>
            </a:r>
            <a:endParaRPr lang="en-US" altLang="zh-CN" sz="2800"/>
          </a:p>
          <a:p>
            <a:r>
              <a:rPr lang="en-US" altLang="zh-CN" sz="2800"/>
              <a:t>(x1+1)+(x2+1)+……+(xm+1)=n+m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c(n+m-1,m-1)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为了避免空盒，先在每个盒里假装放一个球，这样就有 n+m 个球。按照 “</a:t>
            </a:r>
            <a:r>
              <a:rPr lang="zh-CN" altLang="en-US" sz="2800">
                <a:sym typeface="+mn-ea"/>
              </a:rPr>
              <a:t>球同，盒不同，不空</a:t>
            </a:r>
            <a:r>
              <a:rPr lang="en-US" altLang="zh-CN" sz="2800"/>
              <a:t>” 的</a:t>
            </a:r>
            <a:r>
              <a:rPr lang="zh-CN" altLang="en-US" sz="2800"/>
              <a:t>方法放</a:t>
            </a:r>
            <a:r>
              <a:rPr lang="en-US" altLang="zh-CN" sz="2800"/>
              <a:t>完了之后，再从每个盒子里面取走一个球，方案数不变。</a:t>
            </a:r>
            <a:endParaRPr lang="en-US" altLang="zh-CN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</a:t>
            </a:r>
            <a:r>
              <a:rPr lang="zh-CN" altLang="en-US"/>
              <a:t>、球不同，盒同，不空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</a:t>
            </a:r>
            <a:r>
              <a:rPr lang="zh-CN" altLang="en-US"/>
              <a:t>、球不同，盒同，不空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N &lt; M</a:t>
            </a:r>
            <a:r>
              <a:rPr lang="zh-CN" altLang="en-US" sz="2400"/>
              <a:t>：无解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/>
              <a:t>N = M</a:t>
            </a:r>
            <a:r>
              <a:rPr lang="zh-CN" altLang="en-US" sz="2400"/>
              <a:t>：</a:t>
            </a:r>
            <a:r>
              <a:rPr lang="en-US" altLang="zh-CN" sz="2400"/>
              <a:t>f(n,m)=1</a:t>
            </a:r>
            <a:endParaRPr lang="en-US" altLang="zh-CN" sz="2400"/>
          </a:p>
          <a:p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  <a:r>
              <a:rPr lang="en-US" altLang="zh-CN" sz="2400"/>
              <a:t>N &gt; M</a:t>
            </a:r>
            <a:endParaRPr lang="zh-CN" altLang="en-US" sz="2400"/>
          </a:p>
          <a:p>
            <a:r>
              <a:rPr lang="zh-CN" altLang="en-US" sz="2400"/>
              <a:t>指定某</a:t>
            </a:r>
            <a:r>
              <a:rPr lang="en-US" altLang="zh-CN" sz="2400"/>
              <a:t> 1 </a:t>
            </a:r>
            <a:r>
              <a:rPr lang="zh-CN" altLang="en-US" sz="2400"/>
              <a:t>个球，则：</a:t>
            </a:r>
            <a:endParaRPr lang="zh-CN" altLang="en-US" sz="2400"/>
          </a:p>
          <a:p>
            <a:r>
              <a:rPr lang="en-US" altLang="zh-CN" sz="2400">
                <a:latin typeface="Calibri" panose="020F0502020204030204" charset="0"/>
                <a:sym typeface="+mn-ea"/>
              </a:rPr>
              <a:t>①</a:t>
            </a:r>
            <a:r>
              <a:rPr lang="zh-CN" sz="2400"/>
              <a:t>它和别的球共用一个盒</a:t>
            </a:r>
            <a:endParaRPr lang="zh-CN" sz="2400"/>
          </a:p>
          <a:p>
            <a:r>
              <a:rPr lang="en-US" altLang="zh-CN" sz="2400"/>
              <a:t>f(n,m)=f(n-1,m)*m</a:t>
            </a:r>
            <a:endParaRPr lang="en-US" altLang="zh-CN" sz="2400"/>
          </a:p>
          <a:p>
            <a:r>
              <a:rPr lang="en-US" altLang="zh-CN" sz="2400">
                <a:latin typeface="Calibri" panose="020F0502020204030204" charset="0"/>
                <a:sym typeface="+mn-ea"/>
              </a:rPr>
              <a:t>②</a:t>
            </a:r>
            <a:r>
              <a:rPr lang="zh-CN" sz="2400"/>
              <a:t>它自己独占一个盒</a:t>
            </a:r>
            <a:endParaRPr lang="zh-CN" altLang="en-US" sz="2400"/>
          </a:p>
          <a:p>
            <a:r>
              <a:rPr lang="en-US" sz="2400"/>
              <a:t>f(n,m)=f(n-1,m-1)</a:t>
            </a:r>
            <a:endParaRPr lang="en-US" sz="2400"/>
          </a:p>
          <a:p>
            <a:r>
              <a:rPr lang="zh-CN" altLang="en-US" sz="2400"/>
              <a:t>所以</a:t>
            </a:r>
            <a:r>
              <a:rPr lang="en-US" altLang="zh-CN" sz="2400"/>
              <a:t> f(n,m)=</a:t>
            </a:r>
            <a:r>
              <a:rPr lang="en-US" altLang="zh-CN" sz="2400">
                <a:sym typeface="+mn-ea"/>
              </a:rPr>
              <a:t>f(n-1,m)*m+</a:t>
            </a:r>
            <a:r>
              <a:rPr lang="en-US" sz="2400">
                <a:sym typeface="+mn-ea"/>
              </a:rPr>
              <a:t>f(n-1,m-1)</a:t>
            </a:r>
            <a:endParaRPr lang="en-US" sz="2400"/>
          </a:p>
          <a:p>
            <a:r>
              <a:rPr lang="zh-CN" altLang="en-US" sz="2400"/>
              <a:t>初始化：</a:t>
            </a:r>
            <a:r>
              <a:rPr lang="en-US" altLang="zh-CN" sz="2400"/>
              <a:t>f[i][i]=1(i&gt;=1), f[i][1]=1(i&gt;=1), f[i][j]=0(i&lt;j)</a:t>
            </a:r>
            <a:endParaRPr lang="en-US" altLang="zh-CN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7</a:t>
            </a:r>
            <a:r>
              <a:rPr lang="zh-CN" altLang="en-US"/>
              <a:t>、球不同，盒同，可空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7</a:t>
            </a:r>
            <a:r>
              <a:rPr lang="zh-CN" altLang="en-US"/>
              <a:t>、球不同，盒同，可空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/>
              <a:t>枚举空盒子的数量：</a:t>
            </a:r>
            <a:endParaRPr lang="zh-CN" altLang="en-US" sz="2800"/>
          </a:p>
          <a:p>
            <a:r>
              <a:rPr lang="zh-CN" altLang="en-US" sz="2800"/>
              <a:t>一个空盒子都没有 + 有一个空盒子 + 有两个空盒子 + 有三个空盒子</a:t>
            </a:r>
            <a:r>
              <a:rPr lang="en-US" altLang="zh-CN" sz="2800"/>
              <a:t> </a:t>
            </a:r>
            <a:r>
              <a:rPr lang="zh-CN" altLang="en-US" sz="2800"/>
              <a:t>+ </a:t>
            </a:r>
            <a:r>
              <a:rPr lang="en-US" altLang="zh-CN" sz="2800"/>
              <a:t>…… </a:t>
            </a:r>
            <a:r>
              <a:rPr lang="zh-CN" altLang="en-US" sz="2800"/>
              <a:t>+</a:t>
            </a:r>
            <a:r>
              <a:rPr lang="en-US" altLang="zh-CN" sz="2800"/>
              <a:t> </a:t>
            </a:r>
            <a:r>
              <a:rPr lang="zh-CN" altLang="en-US" sz="2800"/>
              <a:t>都装在一个盒子里。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>
                <a:sym typeface="+mn-ea"/>
              </a:rPr>
              <a:t>f(n,m)=sigma(g(n,i)) i=1,2,……,m // </a:t>
            </a:r>
            <a:r>
              <a:rPr lang="zh-CN" altLang="en-US" sz="2800">
                <a:sym typeface="+mn-ea"/>
              </a:rPr>
              <a:t>转换为</a:t>
            </a:r>
            <a:r>
              <a:rPr lang="en-US" altLang="zh-CN" sz="2800">
                <a:sym typeface="+mn-ea"/>
              </a:rPr>
              <a:t> g</a:t>
            </a:r>
            <a:r>
              <a:rPr lang="zh-CN" altLang="en-US" sz="2800">
                <a:sym typeface="+mn-ea"/>
              </a:rPr>
              <a:t>：球不同，盒同，不空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8</a:t>
            </a:r>
            <a:r>
              <a:rPr lang="zh-CN" altLang="en-US"/>
              <a:t>、球不同，盒不同，不空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8</a:t>
            </a:r>
            <a:r>
              <a:rPr lang="zh-CN" altLang="en-US"/>
              <a:t>、球不同，盒不同，不空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球不同，盒同，不空</a:t>
            </a:r>
            <a:r>
              <a:rPr lang="en-US" altLang="zh-CN"/>
              <a:t>”</a:t>
            </a:r>
            <a:r>
              <a:rPr lang="zh-CN" altLang="en-US"/>
              <a:t>的区别在于盒子不同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先按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球不同，盒同，不空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放完，再对盒子全排列编号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f(n,m)=g(n,m)*m! // </a:t>
            </a:r>
            <a:r>
              <a:rPr lang="zh-CN" altLang="en-US">
                <a:sym typeface="+mn-ea"/>
              </a:rPr>
              <a:t>转换为</a:t>
            </a:r>
            <a:r>
              <a:rPr lang="en-US" altLang="zh-CN">
                <a:sym typeface="+mn-ea"/>
              </a:rPr>
              <a:t> g</a:t>
            </a:r>
            <a:r>
              <a:rPr lang="zh-CN" altLang="en-US">
                <a:sym typeface="+mn-ea"/>
              </a:rPr>
              <a:t>：球不同，盒同，不空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acb9e20-b909-4bb3-a850-d292d2f3a4ae"/>
  <p:tag name="COMMONDATA" val="eyJoZGlkIjoiMmNkMDc3ZTlkMzJiNWYwMDRkMzI0OWE2MThhMTlkYz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WPS 演示</Application>
  <PresentationFormat/>
  <Paragraphs>105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20230628</vt:lpstr>
      <vt:lpstr>#847 : 木棍切割 1</vt:lpstr>
      <vt:lpstr>PowerPoint 演示文稿</vt:lpstr>
      <vt:lpstr>1、球不同、盒不同、可空</vt:lpstr>
      <vt:lpstr>2、球同、盒同、可空</vt:lpstr>
      <vt:lpstr>2、球同、盒同、可空</vt:lpstr>
      <vt:lpstr>PowerPoint 演示文稿</vt:lpstr>
      <vt:lpstr>#1765 : 蚂蚁调头</vt:lpstr>
      <vt:lpstr>3、球同，盒同，不空</vt:lpstr>
      <vt:lpstr>PowerPoint 演示文稿</vt:lpstr>
      <vt:lpstr>4、球同，盒不同，不空</vt:lpstr>
      <vt:lpstr>5、球同，盒不同，可空</vt:lpstr>
      <vt:lpstr>PowerPoint 演示文稿</vt:lpstr>
      <vt:lpstr>6、球不同，盒同，不空</vt:lpstr>
      <vt:lpstr>5、球同，盒不同，可空</vt:lpstr>
      <vt:lpstr>PowerPoint 演示文稿</vt:lpstr>
      <vt:lpstr>7、球不同，盒同，可空</vt:lpstr>
      <vt:lpstr>PowerPoint 演示文稿</vt:lpstr>
      <vt:lpstr>8、球不同，盒不同，不空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20230628</dc:title>
  <dc:creator/>
  <cp:lastModifiedBy>Administrator</cp:lastModifiedBy>
  <cp:revision>5</cp:revision>
  <dcterms:created xsi:type="dcterms:W3CDTF">2023-06-28T17:41:00Z</dcterms:created>
  <dcterms:modified xsi:type="dcterms:W3CDTF">2023-06-29T03:43:29Z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BD9990A61DEE49508DB2D6E751D1FA2A_12</vt:lpwstr>
  </property>
</Properties>
</file>